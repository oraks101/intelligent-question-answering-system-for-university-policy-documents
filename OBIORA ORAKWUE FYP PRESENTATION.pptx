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6"/>
  </p:notesMasterIdLst>
  <p:sldIdLst>
    <p:sldId id="256" r:id="rId3"/>
    <p:sldId id="257" r:id="rId4"/>
    <p:sldId id="258" r:id="rId5"/>
    <p:sldId id="294" r:id="rId6"/>
    <p:sldId id="298" r:id="rId7"/>
    <p:sldId id="295" r:id="rId8"/>
    <p:sldId id="296" r:id="rId9"/>
    <p:sldId id="297" r:id="rId10"/>
    <p:sldId id="299" r:id="rId11"/>
    <p:sldId id="300" r:id="rId12"/>
    <p:sldId id="301" r:id="rId13"/>
    <p:sldId id="303" r:id="rId14"/>
    <p:sldId id="30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94660"/>
  </p:normalViewPr>
  <p:slideViewPr>
    <p:cSldViewPr snapToGrid="0">
      <p:cViewPr>
        <p:scale>
          <a:sx n="58" d="100"/>
          <a:sy n="58" d="100"/>
        </p:scale>
        <p:origin x="800"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94A466-1F92-4978-BFB8-183BD7DF0E87}" type="datetimeFigureOut">
              <a:rPr lang="en-GB" smtClean="0"/>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91790F-E1EE-462A-90D3-13F8E8628103}" type="slidenum">
              <a:rPr lang="en-GB" smtClean="0"/>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a:p>
        </p:txBody>
      </p:sp>
      <p:sp>
        <p:nvSpPr>
          <p:cNvPr id="4" name="Date Placeholder 3"/>
          <p:cNvSpPr>
            <a:spLocks noGrp="1"/>
          </p:cNvSpPr>
          <p:nvPr>
            <p:ph type="dt" sz="half" idx="10"/>
          </p:nvPr>
        </p:nvSpPr>
        <p:spPr/>
        <p:txBody>
          <a:bodyPr/>
          <a:lstStyle/>
          <a:p>
            <a:fld id="{95B66908-ADD3-42B0-AB3F-6C7E5962935E}" type="datetime1">
              <a:rPr lang="en-GB" smtClean="0"/>
            </a:fld>
            <a:endParaRPr lang="en-GB"/>
          </a:p>
        </p:txBody>
      </p:sp>
      <p:sp>
        <p:nvSpPr>
          <p:cNvPr id="5" name="Footer Placeholder 4"/>
          <p:cNvSpPr>
            <a:spLocks noGrp="1"/>
          </p:cNvSpPr>
          <p:nvPr>
            <p:ph type="ftr" sz="quarter" idx="11"/>
          </p:nvPr>
        </p:nvSpPr>
        <p:spPr/>
        <p:txBody>
          <a:bodyPr/>
          <a:lstStyle/>
          <a:p>
            <a:r>
              <a:rPr lang="en-US"/>
              <a:t>FYP internal Defence UG, Computer Science @Nile University of Nigeria </a:t>
            </a:r>
            <a:endParaRPr lang="en-GB"/>
          </a:p>
        </p:txBody>
      </p:sp>
      <p:sp>
        <p:nvSpPr>
          <p:cNvPr id="6" name="Slide Number Placeholder 5"/>
          <p:cNvSpPr>
            <a:spLocks noGrp="1"/>
          </p:cNvSpPr>
          <p:nvPr>
            <p:ph type="sldNum" sz="quarter" idx="12"/>
          </p:nvPr>
        </p:nvSpPr>
        <p:spPr/>
        <p:txBody>
          <a:bodyPr/>
          <a:lstStyle/>
          <a:p>
            <a:fld id="{CE00888B-E62E-4F5D-9BDF-6FC093FEB7AE}" type="slidenum">
              <a:rPr lang="en-GB" smtClean="0"/>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GB"/>
          </a:p>
        </p:txBody>
      </p:sp>
      <p:sp>
        <p:nvSpPr>
          <p:cNvPr id="4" name="Date Placeholder 3"/>
          <p:cNvSpPr>
            <a:spLocks noGrp="1"/>
          </p:cNvSpPr>
          <p:nvPr>
            <p:ph type="dt" sz="half" idx="10"/>
          </p:nvPr>
        </p:nvSpPr>
        <p:spPr/>
        <p:txBody>
          <a:bodyPr/>
          <a:lstStyle/>
          <a:p>
            <a:fld id="{560DA057-34D1-4FB5-BAFD-92AC1D9677DF}" type="datetime1">
              <a:rPr lang="en-GB" smtClean="0"/>
            </a:fld>
            <a:endParaRPr lang="en-GB"/>
          </a:p>
        </p:txBody>
      </p:sp>
      <p:sp>
        <p:nvSpPr>
          <p:cNvPr id="5" name="Footer Placeholder 4"/>
          <p:cNvSpPr>
            <a:spLocks noGrp="1"/>
          </p:cNvSpPr>
          <p:nvPr>
            <p:ph type="ftr" sz="quarter" idx="11"/>
          </p:nvPr>
        </p:nvSpPr>
        <p:spPr/>
        <p:txBody>
          <a:bodyPr/>
          <a:lstStyle/>
          <a:p>
            <a:r>
              <a:rPr lang="en-US"/>
              <a:t>FYP internal Defence UG, Computer Science @Nile University of Nigeria </a:t>
            </a:r>
            <a:endParaRPr lang="en-GB"/>
          </a:p>
        </p:txBody>
      </p:sp>
      <p:sp>
        <p:nvSpPr>
          <p:cNvPr id="6" name="Slide Number Placeholder 5"/>
          <p:cNvSpPr>
            <a:spLocks noGrp="1"/>
          </p:cNvSpPr>
          <p:nvPr>
            <p:ph type="sldNum" sz="quarter" idx="12"/>
          </p:nvPr>
        </p:nvSpPr>
        <p:spPr/>
        <p:txBody>
          <a:bodyPr/>
          <a:lstStyle/>
          <a:p>
            <a:fld id="{CE00888B-E62E-4F5D-9BDF-6FC093FEB7AE}"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2D92C852-87EF-4020-9CCA-8F319380034E}" type="datetime1">
              <a:rPr lang="en-GB" smtClean="0"/>
            </a:fld>
            <a:endParaRPr lang="en-GB"/>
          </a:p>
        </p:txBody>
      </p:sp>
      <p:sp>
        <p:nvSpPr>
          <p:cNvPr id="5" name="Footer Placeholder 4"/>
          <p:cNvSpPr>
            <a:spLocks noGrp="1"/>
          </p:cNvSpPr>
          <p:nvPr>
            <p:ph type="ftr" sz="quarter" idx="11"/>
          </p:nvPr>
        </p:nvSpPr>
        <p:spPr/>
        <p:txBody>
          <a:bodyPr/>
          <a:lstStyle/>
          <a:p>
            <a:r>
              <a:rPr lang="en-US"/>
              <a:t>FYP internal Defence UG, Computer Science @Nile University of Nigeria </a:t>
            </a:r>
            <a:endParaRPr lang="en-GB"/>
          </a:p>
        </p:txBody>
      </p:sp>
      <p:sp>
        <p:nvSpPr>
          <p:cNvPr id="6" name="Slide Number Placeholder 5"/>
          <p:cNvSpPr>
            <a:spLocks noGrp="1"/>
          </p:cNvSpPr>
          <p:nvPr>
            <p:ph type="sldNum" sz="quarter" idx="12"/>
          </p:nvPr>
        </p:nvSpPr>
        <p:spPr/>
        <p:txBody>
          <a:bodyPr/>
          <a:lstStyle/>
          <a:p>
            <a:fld id="{CE00888B-E62E-4F5D-9BDF-6FC093FEB7AE}"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GB"/>
          </a:p>
        </p:txBody>
      </p:sp>
      <p:sp>
        <p:nvSpPr>
          <p:cNvPr id="5" name="Date Placeholder 4"/>
          <p:cNvSpPr>
            <a:spLocks noGrp="1"/>
          </p:cNvSpPr>
          <p:nvPr>
            <p:ph type="dt" sz="half" idx="10"/>
          </p:nvPr>
        </p:nvSpPr>
        <p:spPr/>
        <p:txBody>
          <a:bodyPr/>
          <a:lstStyle/>
          <a:p>
            <a:fld id="{8779E8C9-EBAA-4BAD-B738-3194C29A2B77}" type="datetime1">
              <a:rPr lang="en-GB" smtClean="0"/>
            </a:fld>
            <a:endParaRPr lang="en-GB"/>
          </a:p>
        </p:txBody>
      </p:sp>
      <p:sp>
        <p:nvSpPr>
          <p:cNvPr id="6" name="Footer Placeholder 5"/>
          <p:cNvSpPr>
            <a:spLocks noGrp="1"/>
          </p:cNvSpPr>
          <p:nvPr>
            <p:ph type="ftr" sz="quarter" idx="11"/>
          </p:nvPr>
        </p:nvSpPr>
        <p:spPr/>
        <p:txBody>
          <a:bodyPr/>
          <a:lstStyle/>
          <a:p>
            <a:r>
              <a:rPr lang="en-US"/>
              <a:t>FYP internal Defence UG, Computer Science @Nile University of Nigeria </a:t>
            </a:r>
            <a:endParaRPr lang="en-GB"/>
          </a:p>
        </p:txBody>
      </p:sp>
      <p:sp>
        <p:nvSpPr>
          <p:cNvPr id="7" name="Slide Number Placeholder 6"/>
          <p:cNvSpPr>
            <a:spLocks noGrp="1"/>
          </p:cNvSpPr>
          <p:nvPr>
            <p:ph type="sldNum" sz="quarter" idx="12"/>
          </p:nvPr>
        </p:nvSpPr>
        <p:spPr/>
        <p:txBody>
          <a:bodyPr/>
          <a:lstStyle/>
          <a:p>
            <a:fld id="{CE00888B-E62E-4F5D-9BDF-6FC093FEB7AE}"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GB"/>
          </a:p>
        </p:txBody>
      </p:sp>
      <p:sp>
        <p:nvSpPr>
          <p:cNvPr id="7" name="Date Placeholder 6"/>
          <p:cNvSpPr>
            <a:spLocks noGrp="1"/>
          </p:cNvSpPr>
          <p:nvPr>
            <p:ph type="dt" sz="half" idx="10"/>
          </p:nvPr>
        </p:nvSpPr>
        <p:spPr/>
        <p:txBody>
          <a:bodyPr/>
          <a:lstStyle/>
          <a:p>
            <a:fld id="{59A5A938-035B-4B15-895E-FD7867AFF5D5}" type="datetime1">
              <a:rPr lang="en-GB" smtClean="0"/>
            </a:fld>
            <a:endParaRPr lang="en-GB"/>
          </a:p>
        </p:txBody>
      </p:sp>
      <p:sp>
        <p:nvSpPr>
          <p:cNvPr id="8" name="Footer Placeholder 7"/>
          <p:cNvSpPr>
            <a:spLocks noGrp="1"/>
          </p:cNvSpPr>
          <p:nvPr>
            <p:ph type="ftr" sz="quarter" idx="11"/>
          </p:nvPr>
        </p:nvSpPr>
        <p:spPr/>
        <p:txBody>
          <a:bodyPr/>
          <a:lstStyle/>
          <a:p>
            <a:r>
              <a:rPr lang="en-US"/>
              <a:t>FYP internal Defence UG, Computer Science @Nile University of Nigeria </a:t>
            </a:r>
            <a:endParaRPr lang="en-GB"/>
          </a:p>
        </p:txBody>
      </p:sp>
      <p:sp>
        <p:nvSpPr>
          <p:cNvPr id="9" name="Slide Number Placeholder 8"/>
          <p:cNvSpPr>
            <a:spLocks noGrp="1"/>
          </p:cNvSpPr>
          <p:nvPr>
            <p:ph type="sldNum" sz="quarter" idx="12"/>
          </p:nvPr>
        </p:nvSpPr>
        <p:spPr/>
        <p:txBody>
          <a:bodyPr/>
          <a:lstStyle/>
          <a:p>
            <a:fld id="{CE00888B-E62E-4F5D-9BDF-6FC093FEB7AE}"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a:p>
        </p:txBody>
      </p:sp>
      <p:sp>
        <p:nvSpPr>
          <p:cNvPr id="3" name="Date Placeholder 2"/>
          <p:cNvSpPr>
            <a:spLocks noGrp="1"/>
          </p:cNvSpPr>
          <p:nvPr>
            <p:ph type="dt" sz="half" idx="10"/>
          </p:nvPr>
        </p:nvSpPr>
        <p:spPr/>
        <p:txBody>
          <a:bodyPr/>
          <a:lstStyle/>
          <a:p>
            <a:fld id="{7CAF61A1-8A72-4ED0-9525-344B138C055D}" type="datetime1">
              <a:rPr lang="en-GB" smtClean="0"/>
            </a:fld>
            <a:endParaRPr lang="en-GB"/>
          </a:p>
        </p:txBody>
      </p:sp>
      <p:sp>
        <p:nvSpPr>
          <p:cNvPr id="4" name="Footer Placeholder 3"/>
          <p:cNvSpPr>
            <a:spLocks noGrp="1"/>
          </p:cNvSpPr>
          <p:nvPr>
            <p:ph type="ftr" sz="quarter" idx="11"/>
          </p:nvPr>
        </p:nvSpPr>
        <p:spPr/>
        <p:txBody>
          <a:bodyPr/>
          <a:lstStyle/>
          <a:p>
            <a:r>
              <a:rPr lang="en-US"/>
              <a:t>FYP internal Defence UG, Computer Science @Nile University of Nigeria </a:t>
            </a:r>
            <a:endParaRPr lang="en-GB"/>
          </a:p>
        </p:txBody>
      </p:sp>
      <p:sp>
        <p:nvSpPr>
          <p:cNvPr id="5" name="Slide Number Placeholder 4"/>
          <p:cNvSpPr>
            <a:spLocks noGrp="1"/>
          </p:cNvSpPr>
          <p:nvPr>
            <p:ph type="sldNum" sz="quarter" idx="12"/>
          </p:nvPr>
        </p:nvSpPr>
        <p:spPr/>
        <p:txBody>
          <a:bodyPr/>
          <a:lstStyle/>
          <a:p>
            <a:fld id="{CE00888B-E62E-4F5D-9BDF-6FC093FEB7AE}" type="slidenum">
              <a:rPr lang="en-GB" smtClean="0"/>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1AA56-3593-4851-A7E1-F694EDE42749}" type="datetime1">
              <a:rPr lang="en-GB" smtClean="0"/>
            </a:fld>
            <a:endParaRPr lang="en-GB"/>
          </a:p>
        </p:txBody>
      </p:sp>
      <p:sp>
        <p:nvSpPr>
          <p:cNvPr id="3" name="Footer Placeholder 2"/>
          <p:cNvSpPr>
            <a:spLocks noGrp="1"/>
          </p:cNvSpPr>
          <p:nvPr>
            <p:ph type="ftr" sz="quarter" idx="11"/>
          </p:nvPr>
        </p:nvSpPr>
        <p:spPr/>
        <p:txBody>
          <a:bodyPr/>
          <a:lstStyle/>
          <a:p>
            <a:r>
              <a:rPr lang="en-US"/>
              <a:t>FYP internal Defence UG, Computer Science @Nile University of Nigeria </a:t>
            </a:r>
            <a:endParaRPr lang="en-GB"/>
          </a:p>
        </p:txBody>
      </p:sp>
      <p:sp>
        <p:nvSpPr>
          <p:cNvPr id="4" name="Slide Number Placeholder 3"/>
          <p:cNvSpPr>
            <a:spLocks noGrp="1"/>
          </p:cNvSpPr>
          <p:nvPr>
            <p:ph type="sldNum" sz="quarter" idx="12"/>
          </p:nvPr>
        </p:nvSpPr>
        <p:spPr/>
        <p:txBody>
          <a:bodyPr/>
          <a:lstStyle/>
          <a:p>
            <a:fld id="{CE00888B-E62E-4F5D-9BDF-6FC093FEB7AE}"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F2F4D036-97D5-43AF-8C3A-AB2E81EE035F}" type="datetime1">
              <a:rPr lang="en-GB" smtClean="0"/>
            </a:fld>
            <a:endParaRPr lang="en-GB"/>
          </a:p>
        </p:txBody>
      </p:sp>
      <p:sp>
        <p:nvSpPr>
          <p:cNvPr id="6" name="Footer Placeholder 5"/>
          <p:cNvSpPr>
            <a:spLocks noGrp="1"/>
          </p:cNvSpPr>
          <p:nvPr>
            <p:ph type="ftr" sz="quarter" idx="11"/>
          </p:nvPr>
        </p:nvSpPr>
        <p:spPr/>
        <p:txBody>
          <a:bodyPr/>
          <a:lstStyle/>
          <a:p>
            <a:r>
              <a:rPr lang="en-US"/>
              <a:t>FYP internal Defence UG, Computer Science @Nile University of Nigeria </a:t>
            </a:r>
            <a:endParaRPr lang="en-GB"/>
          </a:p>
        </p:txBody>
      </p:sp>
      <p:sp>
        <p:nvSpPr>
          <p:cNvPr id="7" name="Slide Number Placeholder 6"/>
          <p:cNvSpPr>
            <a:spLocks noGrp="1"/>
          </p:cNvSpPr>
          <p:nvPr>
            <p:ph type="sldNum" sz="quarter" idx="12"/>
          </p:nvPr>
        </p:nvSpPr>
        <p:spPr/>
        <p:txBody>
          <a:bodyPr/>
          <a:lstStyle/>
          <a:p>
            <a:fld id="{CE00888B-E62E-4F5D-9BDF-6FC093FEB7AE}"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B857B651-43A4-4AE8-A6BF-95C5D860E661}" type="datetime1">
              <a:rPr lang="en-GB" smtClean="0"/>
            </a:fld>
            <a:endParaRPr lang="en-GB"/>
          </a:p>
        </p:txBody>
      </p:sp>
      <p:sp>
        <p:nvSpPr>
          <p:cNvPr id="6" name="Footer Placeholder 5"/>
          <p:cNvSpPr>
            <a:spLocks noGrp="1"/>
          </p:cNvSpPr>
          <p:nvPr>
            <p:ph type="ftr" sz="quarter" idx="11"/>
          </p:nvPr>
        </p:nvSpPr>
        <p:spPr/>
        <p:txBody>
          <a:bodyPr/>
          <a:lstStyle/>
          <a:p>
            <a:r>
              <a:rPr lang="en-US"/>
              <a:t>FYP internal Defence UG, Computer Science @Nile University of Nigeria </a:t>
            </a:r>
            <a:endParaRPr lang="en-GB"/>
          </a:p>
        </p:txBody>
      </p:sp>
      <p:sp>
        <p:nvSpPr>
          <p:cNvPr id="7" name="Slide Number Placeholder 6"/>
          <p:cNvSpPr>
            <a:spLocks noGrp="1"/>
          </p:cNvSpPr>
          <p:nvPr>
            <p:ph type="sldNum" sz="quarter" idx="12"/>
          </p:nvPr>
        </p:nvSpPr>
        <p:spPr/>
        <p:txBody>
          <a:bodyPr/>
          <a:lstStyle/>
          <a:p>
            <a:fld id="{CE00888B-E62E-4F5D-9BDF-6FC093FEB7AE}"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GB"/>
          </a:p>
        </p:txBody>
      </p:sp>
      <p:sp>
        <p:nvSpPr>
          <p:cNvPr id="4" name="Date Placeholder 3"/>
          <p:cNvSpPr>
            <a:spLocks noGrp="1"/>
          </p:cNvSpPr>
          <p:nvPr>
            <p:ph type="dt" sz="half" idx="10"/>
          </p:nvPr>
        </p:nvSpPr>
        <p:spPr/>
        <p:txBody>
          <a:bodyPr/>
          <a:lstStyle/>
          <a:p>
            <a:fld id="{6A80029A-E145-4E17-9090-1E2DBE743845}" type="datetime1">
              <a:rPr lang="en-GB" smtClean="0"/>
            </a:fld>
            <a:endParaRPr lang="en-GB"/>
          </a:p>
        </p:txBody>
      </p:sp>
      <p:sp>
        <p:nvSpPr>
          <p:cNvPr id="5" name="Footer Placeholder 4"/>
          <p:cNvSpPr>
            <a:spLocks noGrp="1"/>
          </p:cNvSpPr>
          <p:nvPr>
            <p:ph type="ftr" sz="quarter" idx="11"/>
          </p:nvPr>
        </p:nvSpPr>
        <p:spPr/>
        <p:txBody>
          <a:bodyPr/>
          <a:lstStyle/>
          <a:p>
            <a:r>
              <a:rPr lang="en-US"/>
              <a:t>FYP internal Defence UG, Computer Science @Nile University of Nigeria </a:t>
            </a:r>
            <a:endParaRPr lang="en-GB"/>
          </a:p>
        </p:txBody>
      </p:sp>
      <p:sp>
        <p:nvSpPr>
          <p:cNvPr id="6" name="Slide Number Placeholder 5"/>
          <p:cNvSpPr>
            <a:spLocks noGrp="1"/>
          </p:cNvSpPr>
          <p:nvPr>
            <p:ph type="sldNum" sz="quarter" idx="12"/>
          </p:nvPr>
        </p:nvSpPr>
        <p:spPr/>
        <p:txBody>
          <a:bodyPr/>
          <a:lstStyle/>
          <a:p>
            <a:fld id="{CE00888B-E62E-4F5D-9BDF-6FC093FEB7AE}"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GB"/>
          </a:p>
        </p:txBody>
      </p:sp>
      <p:sp>
        <p:nvSpPr>
          <p:cNvPr id="4" name="Date Placeholder 3"/>
          <p:cNvSpPr>
            <a:spLocks noGrp="1"/>
          </p:cNvSpPr>
          <p:nvPr>
            <p:ph type="dt" sz="half" idx="10"/>
          </p:nvPr>
        </p:nvSpPr>
        <p:spPr/>
        <p:txBody>
          <a:bodyPr/>
          <a:lstStyle/>
          <a:p>
            <a:fld id="{B957D31D-59E1-49F7-BFFF-8ECEE76104A7}" type="datetime1">
              <a:rPr lang="en-GB" smtClean="0"/>
            </a:fld>
            <a:endParaRPr lang="en-GB"/>
          </a:p>
        </p:txBody>
      </p:sp>
      <p:sp>
        <p:nvSpPr>
          <p:cNvPr id="5" name="Footer Placeholder 4"/>
          <p:cNvSpPr>
            <a:spLocks noGrp="1"/>
          </p:cNvSpPr>
          <p:nvPr>
            <p:ph type="ftr" sz="quarter" idx="11"/>
          </p:nvPr>
        </p:nvSpPr>
        <p:spPr/>
        <p:txBody>
          <a:bodyPr/>
          <a:lstStyle/>
          <a:p>
            <a:r>
              <a:rPr lang="en-US"/>
              <a:t>FYP internal Defence UG, Computer Science @Nile University of Nigeria </a:t>
            </a:r>
            <a:endParaRPr lang="en-GB"/>
          </a:p>
        </p:txBody>
      </p:sp>
      <p:sp>
        <p:nvSpPr>
          <p:cNvPr id="6" name="Slide Number Placeholder 5"/>
          <p:cNvSpPr>
            <a:spLocks noGrp="1"/>
          </p:cNvSpPr>
          <p:nvPr>
            <p:ph type="sldNum" sz="quarter" idx="12"/>
          </p:nvPr>
        </p:nvSpPr>
        <p:spPr/>
        <p:txBody>
          <a:bodyPr/>
          <a:lstStyle/>
          <a:p>
            <a:fld id="{CE00888B-E62E-4F5D-9BDF-6FC093FEB7AE}"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5FC7AB-CCC9-4C7B-B163-62A8A69908A3}" type="datetime1">
              <a:rPr lang="en-GB" smtClean="0"/>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FYP internal Defence UG, Computer Science @Nile University of Nigeria </a:t>
            </a:r>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00888B-E62E-4F5D-9BDF-6FC093FEB7AE}" type="slidenum">
              <a:rPr lang="en-GB" smtClean="0"/>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blue and green logo with white text&#10;&#10;AI-generated content may be incorrect."/>
          <p:cNvPicPr>
            <a:picLocks noChangeAspect="1"/>
          </p:cNvPicPr>
          <p:nvPr/>
        </p:nvPicPr>
        <p:blipFill>
          <a:blip r:embed="rId1">
            <a:extLst>
              <a:ext uri="{28A0092B-C50C-407E-A947-70E740481C1C}">
                <a14:useLocalDpi xmlns:a14="http://schemas.microsoft.com/office/drawing/2010/main" val="0"/>
              </a:ext>
            </a:extLst>
          </a:blip>
          <a:srcRect t="2361" r="9089" b="19462"/>
          <a:stretch>
            <a:fillRect/>
          </a:stretch>
        </p:blipFill>
        <p:spPr>
          <a:xfrm>
            <a:off x="3523488" y="10"/>
            <a:ext cx="8668512" cy="6857990"/>
          </a:xfrm>
          <a:prstGeom prst="rect">
            <a:avLst/>
          </a:prstGeom>
        </p:spPr>
      </p:pic>
      <p:sp>
        <p:nvSpPr>
          <p:cNvPr id="24" name="Rectangle 23"/>
          <p:cNvSpPr>
            <a:spLocks noGrp="1" noRot="1" noChangeAspect="1" noMove="1" noResize="1" noEditPoints="1" noAdjustHandles="1" noChangeArrowheads="1" noChangeShapeType="1" noTextEdit="1"/>
          </p:cNvSpPr>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77980" y="662259"/>
            <a:ext cx="5226134" cy="3360574"/>
          </a:xfrm>
        </p:spPr>
        <p:txBody>
          <a:bodyPr anchor="t">
            <a:normAutofit fontScale="90000"/>
          </a:bodyPr>
          <a:lstStyle/>
          <a:p>
            <a:pPr algn="l"/>
            <a:r>
              <a:rPr lang="en-US" sz="4900" dirty="0">
                <a:solidFill>
                  <a:schemeClr val="bg1"/>
                </a:solidFill>
                <a:latin typeface="Times New Roman" panose="02020603050405020304" pitchFamily="18" charset="0"/>
                <a:cs typeface="Times New Roman" panose="02020603050405020304" pitchFamily="18" charset="0"/>
              </a:rPr>
              <a:t>Intelligent Question Answering System for University Policy Documents</a:t>
            </a:r>
            <a:br>
              <a:rPr lang="en-US" sz="4800" dirty="0">
                <a:latin typeface="Times New Roman" panose="02020603050405020304" pitchFamily="18" charset="0"/>
                <a:cs typeface="Times New Roman" panose="02020603050405020304" pitchFamily="18" charset="0"/>
              </a:rPr>
            </a:br>
            <a:endParaRPr lang="en-GB" sz="4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77981" y="4081011"/>
            <a:ext cx="4023359" cy="1658736"/>
          </a:xfrm>
        </p:spPr>
        <p:txBody>
          <a:bodyPr>
            <a:normAutofit/>
          </a:bodyPr>
          <a:lstStyle/>
          <a:p>
            <a:pPr algn="l"/>
            <a:r>
              <a:rPr lang="en-US" sz="2000" dirty="0">
                <a:solidFill>
                  <a:schemeClr val="bg1"/>
                </a:solidFill>
                <a:latin typeface="Times New Roman" panose="02020603050405020304" pitchFamily="18" charset="0"/>
                <a:cs typeface="Times New Roman" panose="02020603050405020304" pitchFamily="18" charset="0"/>
              </a:rPr>
              <a:t>By: 	OBIORA ORAKWUE </a:t>
            </a:r>
            <a:endParaRPr lang="en-US" sz="2000" dirty="0">
              <a:solidFill>
                <a:schemeClr val="bg1"/>
              </a:solidFill>
              <a:latin typeface="Times New Roman" panose="02020603050405020304" pitchFamily="18" charset="0"/>
              <a:cs typeface="Times New Roman" panose="02020603050405020304" pitchFamily="18" charset="0"/>
            </a:endParaRPr>
          </a:p>
          <a:p>
            <a:pPr algn="l"/>
            <a:r>
              <a:rPr lang="en-US" sz="2000" dirty="0">
                <a:solidFill>
                  <a:schemeClr val="bg1"/>
                </a:solidFill>
                <a:latin typeface="Times New Roman" panose="02020603050405020304" pitchFamily="18" charset="0"/>
                <a:cs typeface="Times New Roman" panose="02020603050405020304" pitchFamily="18" charset="0"/>
              </a:rPr>
              <a:t>	20221870</a:t>
            </a: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25" name="Rectangle 24"/>
          <p:cNvSpPr>
            <a:spLocks noGrp="1" noRot="1" noChangeAspect="1" noMove="1" noResize="1" noEditPoints="1" noAdjustHandles="1" noChangeArrowheads="1" noChangeShapeType="1" noTextEdit="1"/>
          </p:cNvSpPr>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6" name="Rectangle 25"/>
          <p:cNvSpPr>
            <a:spLocks noGrp="1" noRot="1" noChangeAspect="1" noMove="1" noResize="1" noEditPoints="1" noAdjustHandles="1" noChangeArrowheads="1" noChangeShapeType="1" noTextEdit="1"/>
          </p:cNvSpPr>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ubtitle 2"/>
          <p:cNvSpPr txBox="1"/>
          <p:nvPr/>
        </p:nvSpPr>
        <p:spPr>
          <a:xfrm>
            <a:off x="342623" y="6042276"/>
            <a:ext cx="4893406" cy="513195"/>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7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pPr algn="l"/>
            <a:r>
              <a:rPr lang="en-US" sz="2000" dirty="0">
                <a:solidFill>
                  <a:schemeClr val="bg1"/>
                </a:solidFill>
                <a:latin typeface="Times New Roman" panose="02020603050405020304" pitchFamily="18" charset="0"/>
                <a:cs typeface="Times New Roman" panose="02020603050405020304" pitchFamily="18" charset="0"/>
              </a:rPr>
              <a:t>Supervisor: ASSOC. PROF. NOAH AKANDE </a:t>
            </a:r>
            <a:endParaRPr lang="en-GB"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par>
                                <p:cTn id="14" presetID="10" presetClass="entr" presetSubtype="0" fill="hold" grpId="0" nodeType="withEffect">
                                  <p:stCondLst>
                                    <p:cond delay="1500"/>
                                  </p:stCondLst>
                                  <p:childTnLst>
                                    <p:set>
                                      <p:cBhvr>
                                        <p:cTn id="15" dur="1" fill="hold">
                                          <p:stCondLst>
                                            <p:cond delay="0"/>
                                          </p:stCondLst>
                                        </p:cTn>
                                        <p:tgtEl>
                                          <p:spTgt spid="4">
                                            <p:txEl>
                                              <p:pRg st="0" end="0"/>
                                            </p:txEl>
                                          </p:spTgt>
                                        </p:tgtEl>
                                        <p:attrNameLst>
                                          <p:attrName>style.visibility</p:attrName>
                                        </p:attrNameLst>
                                      </p:cBhvr>
                                      <p:to>
                                        <p:strVal val="visible"/>
                                      </p:to>
                                    </p:set>
                                    <p:animEffect transition="in" filter="fade">
                                      <p:cBhvr>
                                        <p:cTn id="16" dur="7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
            <a:lum/>
          </a:blip>
          <a:srcRect/>
          <a:stretch>
            <a:fillRect t="-32000" b="-32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dirty="0">
                <a:latin typeface="Times New Roman" panose="02020603050405020304" pitchFamily="18" charset="0"/>
                <a:cs typeface="Times New Roman" panose="02020603050405020304" pitchFamily="18" charset="0"/>
              </a:rPr>
              <a:t>Content</a:t>
            </a:r>
            <a:endParaRPr lang="en-GB"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a:pPr>
            <a:r>
              <a:rPr lang="en-US" dirty="0">
                <a:latin typeface="Times New Roman" panose="02020603050405020304" pitchFamily="18" charset="0"/>
                <a:cs typeface="Times New Roman" panose="02020603050405020304" pitchFamily="18" charset="0"/>
              </a:rPr>
              <a:t>Introduction: Background</a:t>
            </a: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Problem statement</a:t>
            </a: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Gaps in Literature and Existing Systems</a:t>
            </a: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Methodology</a:t>
            </a:r>
            <a:endParaRPr lang="en-US"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US" dirty="0">
                <a:latin typeface="Times New Roman" panose="02020603050405020304" pitchFamily="18" charset="0"/>
                <a:cs typeface="Times New Roman" panose="02020603050405020304" pitchFamily="18" charset="0"/>
              </a:rPr>
              <a:t>System Architecture</a:t>
            </a:r>
            <a:endParaRPr lang="en-US"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US" dirty="0">
                <a:latin typeface="Times New Roman" panose="02020603050405020304" pitchFamily="18" charset="0"/>
                <a:cs typeface="Times New Roman" panose="02020603050405020304" pitchFamily="18" charset="0"/>
              </a:rPr>
              <a:t>Module 1</a:t>
            </a:r>
            <a:endParaRPr lang="en-US" dirty="0">
              <a:latin typeface="Times New Roman" panose="02020603050405020304" pitchFamily="18" charset="0"/>
              <a:cs typeface="Times New Roman" panose="02020603050405020304" pitchFamily="18" charset="0"/>
            </a:endParaRPr>
          </a:p>
          <a:p>
            <a:pPr marL="1428750" lvl="2" indent="-514350">
              <a:buFont typeface="+mj-lt"/>
              <a:buAutoNum type="arabicPeriod"/>
            </a:pPr>
            <a:r>
              <a:rPr lang="en-US" dirty="0">
                <a:latin typeface="Times New Roman" panose="02020603050405020304" pitchFamily="18" charset="0"/>
                <a:cs typeface="Times New Roman" panose="02020603050405020304" pitchFamily="18" charset="0"/>
              </a:rPr>
              <a:t>Use case diagram</a:t>
            </a:r>
            <a:endParaRPr lang="en-US"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US">
                <a:latin typeface="Times New Roman" panose="02020603050405020304" pitchFamily="18" charset="0"/>
                <a:cs typeface="Times New Roman" panose="02020603050405020304" pitchFamily="18" charset="0"/>
              </a:rPr>
              <a:t>Module 2</a:t>
            </a:r>
            <a:endParaRPr lang="en-US" dirty="0">
              <a:latin typeface="Times New Roman" panose="02020603050405020304" pitchFamily="18" charset="0"/>
              <a:cs typeface="Times New Roman" panose="02020603050405020304" pitchFamily="18" charset="0"/>
            </a:endParaRPr>
          </a:p>
          <a:p>
            <a:pPr marL="1428750" lvl="2" indent="-514350">
              <a:buFont typeface="+mj-lt"/>
              <a:buAutoNum type="arabicPeriod"/>
            </a:pPr>
            <a:r>
              <a:rPr lang="en-US" dirty="0">
                <a:latin typeface="Times New Roman" panose="02020603050405020304" pitchFamily="18" charset="0"/>
                <a:cs typeface="Times New Roman" panose="02020603050405020304" pitchFamily="18" charset="0"/>
              </a:rPr>
              <a:t>Use case diagram</a:t>
            </a:r>
            <a:endParaRPr lang="en-US" dirty="0">
              <a:latin typeface="Times New Roman" panose="02020603050405020304" pitchFamily="18" charset="0"/>
              <a:cs typeface="Times New Roman" panose="02020603050405020304" pitchFamily="18" charset="0"/>
            </a:endParaRPr>
          </a:p>
          <a:p>
            <a:pPr marL="914400" lvl="1" indent="-457200">
              <a:buFont typeface="+mj-lt"/>
              <a:buAutoNum type="arabicPeriod"/>
            </a:pPr>
            <a:r>
              <a:rPr lang="en-US" dirty="0">
                <a:latin typeface="Times New Roman" panose="02020603050405020304" pitchFamily="18" charset="0"/>
                <a:cs typeface="Times New Roman" panose="02020603050405020304" pitchFamily="18" charset="0"/>
              </a:rPr>
              <a:t>Technology Stack for Module 1 &amp; 2						                        </a:t>
            </a: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Demo</a:t>
            </a: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Conclusion and recommendations for future work</a:t>
            </a:r>
            <a:endParaRPr lang="en-US" dirty="0">
              <a:latin typeface="Times New Roman" panose="02020603050405020304" pitchFamily="18" charset="0"/>
              <a:cs typeface="Times New Roman" panose="02020603050405020304" pitchFamily="18" charset="0"/>
            </a:endParaRPr>
          </a:p>
          <a:p>
            <a:pPr marL="1428750" lvl="2" indent="-514350">
              <a:buFont typeface="+mj-lt"/>
              <a:buAutoNum type="arabicPeriod"/>
            </a:pPr>
            <a:endParaRPr lang="en-US" dirty="0">
              <a:latin typeface="Times New Roman" panose="02020603050405020304" pitchFamily="18" charset="0"/>
              <a:cs typeface="Times New Roman" panose="02020603050405020304" pitchFamily="18" charset="0"/>
            </a:endParaRPr>
          </a:p>
          <a:p>
            <a:pPr marL="971550" lvl="1" indent="-514350">
              <a:buFont typeface="+mj-lt"/>
              <a:buAutoNum type="arabicPeriod"/>
            </a:pPr>
            <a:endParaRPr lang="en-US" dirty="0">
              <a:latin typeface="Times New Roman" panose="02020603050405020304" pitchFamily="18" charset="0"/>
              <a:cs typeface="Times New Roman" panose="02020603050405020304" pitchFamily="18" charset="0"/>
            </a:endParaRPr>
          </a:p>
          <a:p>
            <a:pPr marL="971550" lvl="1" indent="-514350">
              <a:buFont typeface="+mj-lt"/>
              <a:buAutoNum type="arabicPeriod"/>
            </a:pP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GB" dirty="0"/>
              <a:t>23/5/2026</a:t>
            </a:r>
            <a:endParaRPr lang="en-GB" dirty="0"/>
          </a:p>
        </p:txBody>
      </p:sp>
      <p:sp>
        <p:nvSpPr>
          <p:cNvPr id="5" name="Footer Placeholder 4"/>
          <p:cNvSpPr>
            <a:spLocks noGrp="1"/>
          </p:cNvSpPr>
          <p:nvPr>
            <p:ph type="ftr" sz="quarter" idx="11"/>
          </p:nvPr>
        </p:nvSpPr>
        <p:spPr/>
        <p:txBody>
          <a:bodyPr/>
          <a:lstStyle/>
          <a:p>
            <a:r>
              <a:rPr lang="en-US" dirty="0"/>
              <a:t>FYP internal </a:t>
            </a:r>
            <a:r>
              <a:rPr lang="en-US" dirty="0" err="1"/>
              <a:t>Defence</a:t>
            </a:r>
            <a:r>
              <a:rPr lang="en-US" dirty="0"/>
              <a:t> UG, Computer Science @Nile University of Nigeria </a:t>
            </a:r>
            <a:endParaRPr lang="en-GB" dirty="0"/>
          </a:p>
        </p:txBody>
      </p:sp>
      <p:sp>
        <p:nvSpPr>
          <p:cNvPr id="6" name="Slide Number Placeholder 5"/>
          <p:cNvSpPr>
            <a:spLocks noGrp="1"/>
          </p:cNvSpPr>
          <p:nvPr>
            <p:ph type="sldNum" sz="quarter" idx="12"/>
          </p:nvPr>
        </p:nvSpPr>
        <p:spPr/>
        <p:txBody>
          <a:bodyPr/>
          <a:lstStyle/>
          <a:p>
            <a:fld id="{CE00888B-E62E-4F5D-9BDF-6FC093FEB7AE}" type="slidenum">
              <a:rPr lang="en-GB" sz="2000" b="1" i="1" smtClean="0">
                <a:solidFill>
                  <a:schemeClr val="tx2">
                    <a:lumMod val="75000"/>
                    <a:lumOff val="25000"/>
                  </a:schemeClr>
                </a:solidFill>
                <a:latin typeface="Times New Roman" panose="02020603050405020304" pitchFamily="18" charset="0"/>
                <a:cs typeface="Times New Roman" panose="02020603050405020304" pitchFamily="18" charset="0"/>
              </a:rPr>
            </a:fld>
            <a:endParaRPr lang="en-GB" sz="2000" b="1" i="1"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
            <a:lum/>
          </a:blip>
          <a:srcRect/>
          <a:stretch>
            <a:fillRect t="-32000" b="-32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9058" y="383293"/>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Background</a:t>
            </a:r>
            <a:endParaRPr lang="en-GB" sz="40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GB" dirty="0"/>
              <a:t>23/5/2026</a:t>
            </a:r>
            <a:endParaRPr lang="en-GB" dirty="0"/>
          </a:p>
        </p:txBody>
      </p:sp>
      <p:sp>
        <p:nvSpPr>
          <p:cNvPr id="5" name="Footer Placeholder 4"/>
          <p:cNvSpPr>
            <a:spLocks noGrp="1"/>
          </p:cNvSpPr>
          <p:nvPr>
            <p:ph type="ftr" sz="quarter" idx="11"/>
          </p:nvPr>
        </p:nvSpPr>
        <p:spPr/>
        <p:txBody>
          <a:bodyPr/>
          <a:lstStyle/>
          <a:p>
            <a:r>
              <a:rPr lang="en-US"/>
              <a:t>FYP internal Defence UG, Computer Science @Nile University of Nigeria </a:t>
            </a:r>
            <a:endParaRPr lang="en-GB"/>
          </a:p>
        </p:txBody>
      </p:sp>
      <p:sp>
        <p:nvSpPr>
          <p:cNvPr id="6" name="Slide Number Placeholder 5"/>
          <p:cNvSpPr>
            <a:spLocks noGrp="1"/>
          </p:cNvSpPr>
          <p:nvPr>
            <p:ph type="sldNum" sz="quarter" idx="12"/>
          </p:nvPr>
        </p:nvSpPr>
        <p:spPr/>
        <p:txBody>
          <a:bodyPr/>
          <a:lstStyle/>
          <a:p>
            <a:fld id="{CE00888B-E62E-4F5D-9BDF-6FC093FEB7AE}" type="slidenum">
              <a:rPr lang="en-GB" sz="2000" b="1" i="1" smtClean="0">
                <a:solidFill>
                  <a:schemeClr val="tx2">
                    <a:lumMod val="75000"/>
                    <a:lumOff val="25000"/>
                  </a:schemeClr>
                </a:solidFill>
                <a:latin typeface="Times New Roman" panose="02020603050405020304" pitchFamily="18" charset="0"/>
                <a:cs typeface="Times New Roman" panose="02020603050405020304" pitchFamily="18" charset="0"/>
              </a:rPr>
            </a:fld>
            <a:endParaRPr lang="en-GB" sz="2000" b="1" i="1"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sp>
        <p:nvSpPr>
          <p:cNvPr id="9" name="Rectangle 3"/>
          <p:cNvSpPr>
            <a:spLocks noGrp="1" noChangeArrowheads="1"/>
          </p:cNvSpPr>
          <p:nvPr>
            <p:ph idx="1"/>
          </p:nvPr>
        </p:nvSpPr>
        <p:spPr bwMode="auto">
          <a:xfrm>
            <a:off x="436756" y="1659890"/>
            <a:ext cx="11318488" cy="3538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defTabSz="914400" rtl="0" eaLnBrk="0" fontAlgn="base" latinLnBrk="0" hangingPunct="0">
              <a:lnSpc>
                <a:spcPct val="100000"/>
              </a:lnSpc>
              <a:spcBef>
                <a:spcPct val="0"/>
              </a:spcBef>
              <a:spcAft>
                <a:spcPct val="0"/>
              </a:spcAft>
              <a:buClrTx/>
              <a:buSzTx/>
              <a:buNone/>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University policy documents, such as student handbooks, academic regulations, examination guidelines, and codes of conduct, are essential for academic administration at Nile University.</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None/>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They provide the official rules, procedures, and guidelines that govern student rights, responsibilities, and academic processes.</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None/>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documents are meant to ensure uniformity, clarity, and fairness across the university community </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
            <a:lum/>
          </a:blip>
          <a:srcRect/>
          <a:stretch>
            <a:fillRect t="-32000" b="-32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Problem Statement</a:t>
            </a:r>
            <a:endParaRPr lang="en-GB"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lang="en-US" altLang="en-US" dirty="0">
                <a:latin typeface="Times New Roman" panose="02020603050405020304" pitchFamily="18" charset="0"/>
                <a:cs typeface="Times New Roman" panose="02020603050405020304" pitchFamily="18" charset="0"/>
              </a:rPr>
              <a:t>However, despite their importance, these documents are often lengthy, scattered, and written in formal language. Students and staff struggle to locate specific information quickly. Traditional keyword search fails to understand the real intent behind questions, leading to wasted time, repeated administrative enquiries, and occasional misinformation.</a:t>
            </a:r>
            <a:endParaRPr lang="en-US" alt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GB" dirty="0"/>
              <a:t>23/5/2026</a:t>
            </a:r>
            <a:endParaRPr lang="en-GB" dirty="0"/>
          </a:p>
        </p:txBody>
      </p:sp>
      <p:sp>
        <p:nvSpPr>
          <p:cNvPr id="5" name="Footer Placeholder 4"/>
          <p:cNvSpPr>
            <a:spLocks noGrp="1"/>
          </p:cNvSpPr>
          <p:nvPr>
            <p:ph type="ftr" sz="quarter" idx="11"/>
          </p:nvPr>
        </p:nvSpPr>
        <p:spPr/>
        <p:txBody>
          <a:bodyPr/>
          <a:lstStyle/>
          <a:p>
            <a:r>
              <a:rPr lang="en-US"/>
              <a:t>FYP internal Defence UG, Computer Science @Nile University of Nigeria </a:t>
            </a:r>
            <a:endParaRPr lang="en-GB"/>
          </a:p>
        </p:txBody>
      </p:sp>
      <p:sp>
        <p:nvSpPr>
          <p:cNvPr id="6" name="Slide Number Placeholder 5"/>
          <p:cNvSpPr>
            <a:spLocks noGrp="1"/>
          </p:cNvSpPr>
          <p:nvPr>
            <p:ph type="sldNum" sz="quarter" idx="12"/>
          </p:nvPr>
        </p:nvSpPr>
        <p:spPr/>
        <p:txBody>
          <a:bodyPr/>
          <a:lstStyle/>
          <a:p>
            <a:fld id="{CE00888B-E62E-4F5D-9BDF-6FC093FEB7AE}" type="slidenum">
              <a:rPr lang="en-GB" sz="2000" b="1" i="1" smtClean="0">
                <a:solidFill>
                  <a:schemeClr val="tx2">
                    <a:lumMod val="75000"/>
                    <a:lumOff val="25000"/>
                  </a:schemeClr>
                </a:solidFill>
                <a:latin typeface="Times New Roman" panose="02020603050405020304" pitchFamily="18" charset="0"/>
                <a:cs typeface="Times New Roman" panose="02020603050405020304" pitchFamily="18" charset="0"/>
              </a:rPr>
            </a:fld>
            <a:endParaRPr lang="en-GB" sz="2000" b="1" i="1"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
            <a:lum/>
          </a:blip>
          <a:srcRect/>
          <a:stretch>
            <a:fillRect t="-32000" b="-32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Aim and Objectives</a:t>
            </a:r>
            <a:endParaRPr lang="en-GB"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r>
              <a:rPr lang="en-US" sz="3200" b="1" dirty="0">
                <a:latin typeface="Times New Roman" panose="02020603050405020304" pitchFamily="18" charset="0"/>
                <a:cs typeface="Times New Roman" panose="02020603050405020304" pitchFamily="18" charset="0"/>
              </a:rPr>
              <a:t>Aim</a:t>
            </a:r>
            <a:r>
              <a:rPr lang="en-US" sz="3200" dirty="0">
                <a:latin typeface="Times New Roman" panose="02020603050405020304" pitchFamily="18" charset="0"/>
                <a:cs typeface="Times New Roman" panose="02020603050405020304" pitchFamily="18" charset="0"/>
              </a:rPr>
              <a:t>: To develop an Intelligent Question Answering System using Retrieval-Augmented Generation (RAG) with Gemini 2.5 Flash that allows natural language queries on official university policy documents.</a:t>
            </a:r>
            <a:endParaRPr lang="en-US" sz="32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Objectives</a:t>
            </a:r>
            <a:r>
              <a:rPr lang="en-US" sz="3200" dirty="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To explore existing QA systems and NLP techniques</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To preprocess and organize university policy documents</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To implement and optimize a RAG architecture</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To develop a user-friendly natural language interface</a:t>
            </a:r>
            <a:endParaRPr lang="en-US" sz="3200" dirty="0">
              <a:latin typeface="Times New Roman" panose="02020603050405020304" pitchFamily="18" charset="0"/>
              <a:cs typeface="Times New Roman" panose="02020603050405020304" pitchFamily="18" charset="0"/>
            </a:endParaRPr>
          </a:p>
          <a:p>
            <a:pPr marL="0" indent="0">
              <a:buNone/>
            </a:pPr>
            <a:endParaRPr lang="en-GB"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GB" dirty="0"/>
              <a:t>23/5/2026</a:t>
            </a:r>
            <a:endParaRPr lang="en-GB" dirty="0"/>
          </a:p>
        </p:txBody>
      </p:sp>
      <p:sp>
        <p:nvSpPr>
          <p:cNvPr id="5" name="Footer Placeholder 4"/>
          <p:cNvSpPr>
            <a:spLocks noGrp="1"/>
          </p:cNvSpPr>
          <p:nvPr>
            <p:ph type="ftr" sz="quarter" idx="11"/>
          </p:nvPr>
        </p:nvSpPr>
        <p:spPr/>
        <p:txBody>
          <a:bodyPr/>
          <a:lstStyle/>
          <a:p>
            <a:r>
              <a:rPr lang="en-US"/>
              <a:t>FYP internal Defence UG, Computer Science @Nile University of Nigeria </a:t>
            </a:r>
            <a:endParaRPr lang="en-GB"/>
          </a:p>
        </p:txBody>
      </p:sp>
      <p:sp>
        <p:nvSpPr>
          <p:cNvPr id="6" name="Slide Number Placeholder 5"/>
          <p:cNvSpPr>
            <a:spLocks noGrp="1"/>
          </p:cNvSpPr>
          <p:nvPr>
            <p:ph type="sldNum" sz="quarter" idx="12"/>
          </p:nvPr>
        </p:nvSpPr>
        <p:spPr/>
        <p:txBody>
          <a:bodyPr/>
          <a:lstStyle/>
          <a:p>
            <a:fld id="{CE00888B-E62E-4F5D-9BDF-6FC093FEB7AE}" type="slidenum">
              <a:rPr lang="en-GB" sz="2000" b="1" i="1" smtClean="0">
                <a:solidFill>
                  <a:schemeClr val="tx2">
                    <a:lumMod val="75000"/>
                    <a:lumOff val="25000"/>
                  </a:schemeClr>
                </a:solidFill>
                <a:latin typeface="Times New Roman" panose="02020603050405020304" pitchFamily="18" charset="0"/>
                <a:cs typeface="Times New Roman" panose="02020603050405020304" pitchFamily="18" charset="0"/>
              </a:rPr>
            </a:fld>
            <a:endParaRPr lang="en-GB" sz="2000" b="1" i="1"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
            <a:lum/>
          </a:blip>
          <a:srcRect/>
          <a:stretch>
            <a:fillRect t="-32000" b="-32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7816" y="365125"/>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Gaps in Existing Works and Literature</a:t>
            </a:r>
            <a:endParaRPr lang="en-GB" sz="40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GB" dirty="0"/>
              <a:t>23/5/2026</a:t>
            </a:r>
            <a:endParaRPr lang="en-GB" dirty="0"/>
          </a:p>
        </p:txBody>
      </p:sp>
      <p:sp>
        <p:nvSpPr>
          <p:cNvPr id="5" name="Footer Placeholder 4"/>
          <p:cNvSpPr>
            <a:spLocks noGrp="1"/>
          </p:cNvSpPr>
          <p:nvPr>
            <p:ph type="ftr" sz="quarter" idx="11"/>
          </p:nvPr>
        </p:nvSpPr>
        <p:spPr/>
        <p:txBody>
          <a:bodyPr/>
          <a:lstStyle/>
          <a:p>
            <a:r>
              <a:rPr lang="en-US"/>
              <a:t>FYP internal Defence UG, Computer Science @Nile University of Nigeria </a:t>
            </a:r>
            <a:endParaRPr lang="en-GB"/>
          </a:p>
        </p:txBody>
      </p:sp>
      <p:sp>
        <p:nvSpPr>
          <p:cNvPr id="6" name="Slide Number Placeholder 5"/>
          <p:cNvSpPr>
            <a:spLocks noGrp="1"/>
          </p:cNvSpPr>
          <p:nvPr>
            <p:ph type="sldNum" sz="quarter" idx="12"/>
          </p:nvPr>
        </p:nvSpPr>
        <p:spPr/>
        <p:txBody>
          <a:bodyPr/>
          <a:lstStyle/>
          <a:p>
            <a:fld id="{CE00888B-E62E-4F5D-9BDF-6FC093FEB7AE}" type="slidenum">
              <a:rPr lang="en-GB" sz="2000" b="1" i="1" smtClean="0">
                <a:solidFill>
                  <a:schemeClr val="tx2">
                    <a:lumMod val="75000"/>
                    <a:lumOff val="25000"/>
                  </a:schemeClr>
                </a:solidFill>
                <a:latin typeface="Times New Roman" panose="02020603050405020304" pitchFamily="18" charset="0"/>
                <a:cs typeface="Times New Roman" panose="02020603050405020304" pitchFamily="18" charset="0"/>
              </a:rPr>
            </a:fld>
            <a:endParaRPr lang="en-GB" sz="2000" b="1" i="1"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sp>
        <p:nvSpPr>
          <p:cNvPr id="7" name="Rectangle 1"/>
          <p:cNvSpPr>
            <a:spLocks noGrp="1" noChangeArrowheads="1"/>
          </p:cNvSpPr>
          <p:nvPr>
            <p:ph idx="1"/>
          </p:nvPr>
        </p:nvSpPr>
        <p:spPr bwMode="auto">
          <a:xfrm>
            <a:off x="437816" y="1182023"/>
            <a:ext cx="11471686"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3200" b="0" i="0" u="none" strike="noStrike" cap="none" normalizeH="0" baseline="0" dirty="0">
              <a:ln>
                <a:noFill/>
              </a:ln>
              <a:solidFill>
                <a:schemeClr val="tx1"/>
              </a:solidFill>
              <a:effectLst/>
              <a:latin typeface="Arial" panose="020B07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QA systems are designed for open-domain (Wikipedia) or general documents, not institutional policy documents. </a:t>
            </a:r>
            <a:endPar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Very few studies focus on university/academic policies, especially in developing countries like Nigeria. </a:t>
            </a:r>
            <a:endPar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Pure generative models frequently suffer from hallucinations (fabricating answers). </a:t>
            </a:r>
            <a:endPar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keyword search lacks semantic understanding. </a:t>
            </a:r>
            <a:endPar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practical evaluation using real university policy datasets. </a:t>
            </a:r>
            <a:endPar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
            <a:lum/>
          </a:blip>
          <a:srcRect/>
          <a:stretch>
            <a:fillRect t="-32000" b="-32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Methodology</a:t>
            </a:r>
            <a:endParaRPr lang="en-GB"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ctr">
              <a:buNone/>
            </a:pPr>
            <a:r>
              <a:rPr lang="en-US" dirty="0"/>
              <a:t>Integrated</a:t>
            </a:r>
            <a:r>
              <a:rPr lang="en-US" b="1" dirty="0"/>
              <a:t> RAG Approach</a:t>
            </a:r>
            <a:r>
              <a:rPr lang="en-US" dirty="0"/>
              <a:t> (Single cohesive system)</a:t>
            </a:r>
            <a:endParaRPr lang="en-US" dirty="0"/>
          </a:p>
          <a:p>
            <a:r>
              <a:rPr lang="en-US" dirty="0"/>
              <a:t>Adopted </a:t>
            </a:r>
            <a:r>
              <a:rPr lang="en-US" b="1" dirty="0"/>
              <a:t>Retrieval-Augmented Generation (RAG)</a:t>
            </a:r>
            <a:r>
              <a:rPr lang="en-US" dirty="0"/>
              <a:t> methodology.</a:t>
            </a:r>
            <a:endParaRPr lang="en-US" dirty="0"/>
          </a:p>
          <a:p>
            <a:r>
              <a:rPr lang="en-US" dirty="0"/>
              <a:t>Document processing pipeline using Python and </a:t>
            </a:r>
            <a:r>
              <a:rPr lang="en-US" dirty="0" err="1"/>
              <a:t>LlamaIndex</a:t>
            </a:r>
            <a:r>
              <a:rPr lang="en-US" dirty="0"/>
              <a:t>.</a:t>
            </a:r>
            <a:endParaRPr lang="en-US" dirty="0"/>
          </a:p>
          <a:p>
            <a:r>
              <a:rPr lang="en-US" dirty="0"/>
              <a:t>Retrieval + Generation workflow to ensure answers are grounded in official documents. (No need for multiple methodologies since it is one integrated system)</a:t>
            </a:r>
            <a:endParaRPr lang="en-US" dirty="0"/>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GB" dirty="0"/>
              <a:t>23/5/2026</a:t>
            </a:r>
            <a:endParaRPr lang="en-GB" dirty="0"/>
          </a:p>
        </p:txBody>
      </p:sp>
      <p:sp>
        <p:nvSpPr>
          <p:cNvPr id="5" name="Footer Placeholder 4"/>
          <p:cNvSpPr>
            <a:spLocks noGrp="1"/>
          </p:cNvSpPr>
          <p:nvPr>
            <p:ph type="ftr" sz="quarter" idx="11"/>
          </p:nvPr>
        </p:nvSpPr>
        <p:spPr/>
        <p:txBody>
          <a:bodyPr/>
          <a:lstStyle/>
          <a:p>
            <a:r>
              <a:rPr lang="en-US"/>
              <a:t>FYP internal Defence UG, Computer Science @Nile University of Nigeria </a:t>
            </a:r>
            <a:endParaRPr lang="en-GB"/>
          </a:p>
        </p:txBody>
      </p:sp>
      <p:sp>
        <p:nvSpPr>
          <p:cNvPr id="6" name="Slide Number Placeholder 5"/>
          <p:cNvSpPr>
            <a:spLocks noGrp="1"/>
          </p:cNvSpPr>
          <p:nvPr>
            <p:ph type="sldNum" sz="quarter" idx="12"/>
          </p:nvPr>
        </p:nvSpPr>
        <p:spPr/>
        <p:txBody>
          <a:bodyPr/>
          <a:lstStyle/>
          <a:p>
            <a:fld id="{CE00888B-E62E-4F5D-9BDF-6FC093FEB7AE}" type="slidenum">
              <a:rPr lang="en-GB" sz="2000" b="1" i="1" smtClean="0">
                <a:solidFill>
                  <a:schemeClr val="tx2">
                    <a:lumMod val="75000"/>
                    <a:lumOff val="25000"/>
                  </a:schemeClr>
                </a:solidFill>
                <a:latin typeface="Times New Roman" panose="02020603050405020304" pitchFamily="18" charset="0"/>
                <a:cs typeface="Times New Roman" panose="02020603050405020304" pitchFamily="18" charset="0"/>
              </a:rPr>
            </a:fld>
            <a:endParaRPr lang="en-GB" sz="2000" b="1" i="1"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
            <a:lum/>
          </a:blip>
          <a:srcRect/>
          <a:stretch>
            <a:fillRect t="-32000" b="-32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16299" y="18255"/>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System Design: System Architecture</a:t>
            </a:r>
            <a:endParaRPr lang="en-GB"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514350" indent="-514350">
              <a:buFont typeface="+mj-lt"/>
              <a:buAutoNum type="arabicPeriod"/>
            </a:pP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GB" dirty="0"/>
              <a:t>23/5/2026</a:t>
            </a:r>
            <a:endParaRPr lang="en-GB" dirty="0"/>
          </a:p>
        </p:txBody>
      </p:sp>
      <p:sp>
        <p:nvSpPr>
          <p:cNvPr id="5" name="Footer Placeholder 4"/>
          <p:cNvSpPr>
            <a:spLocks noGrp="1"/>
          </p:cNvSpPr>
          <p:nvPr>
            <p:ph type="ftr" sz="quarter" idx="11"/>
          </p:nvPr>
        </p:nvSpPr>
        <p:spPr/>
        <p:txBody>
          <a:bodyPr/>
          <a:lstStyle/>
          <a:p>
            <a:r>
              <a:rPr lang="en-US"/>
              <a:t>FYP internal Defence UG, Computer Science @Nile University of Nigeria </a:t>
            </a:r>
            <a:endParaRPr lang="en-GB"/>
          </a:p>
        </p:txBody>
      </p:sp>
      <p:sp>
        <p:nvSpPr>
          <p:cNvPr id="6" name="Slide Number Placeholder 5"/>
          <p:cNvSpPr>
            <a:spLocks noGrp="1"/>
          </p:cNvSpPr>
          <p:nvPr>
            <p:ph type="sldNum" sz="quarter" idx="12"/>
          </p:nvPr>
        </p:nvSpPr>
        <p:spPr/>
        <p:txBody>
          <a:bodyPr/>
          <a:lstStyle/>
          <a:p>
            <a:fld id="{CE00888B-E62E-4F5D-9BDF-6FC093FEB7AE}" type="slidenum">
              <a:rPr lang="en-GB" sz="2000" b="1" i="1" smtClean="0">
                <a:solidFill>
                  <a:schemeClr val="tx2">
                    <a:lumMod val="75000"/>
                    <a:lumOff val="25000"/>
                  </a:schemeClr>
                </a:solidFill>
                <a:latin typeface="Times New Roman" panose="02020603050405020304" pitchFamily="18" charset="0"/>
                <a:cs typeface="Times New Roman" panose="02020603050405020304" pitchFamily="18" charset="0"/>
              </a:rPr>
            </a:fld>
            <a:endParaRPr lang="en-GB" sz="2000" b="1" i="1"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pic>
        <p:nvPicPr>
          <p:cNvPr id="7" name="Picture 6" descr="image.png"/>
          <p:cNvPicPr>
            <a:picLocks noChangeAspect="1"/>
          </p:cNvPicPr>
          <p:nvPr/>
        </p:nvPicPr>
        <p:blipFill>
          <a:blip r:embed="rId2"/>
          <a:stretch>
            <a:fillRect/>
          </a:stretch>
        </p:blipFill>
        <p:spPr>
          <a:xfrm>
            <a:off x="5076662" y="914400"/>
            <a:ext cx="2038676" cy="54419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
            <a:lum/>
          </a:blip>
          <a:srcRect/>
          <a:stretch>
            <a:fillRect t="-32000" b="-32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Document Processing &amp; Retrieval</a:t>
            </a:r>
            <a:endParaRPr lang="en-GB"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5"/>
            <a:ext cx="6596743" cy="4351338"/>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System Description</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PDF text extraction from 8 documents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Cleaning, chunking, embedding generation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Vector storage using </a:t>
            </a:r>
            <a:r>
              <a:rPr lang="en-US" dirty="0" err="1">
                <a:latin typeface="Times New Roman" panose="02020603050405020304" pitchFamily="18" charset="0"/>
                <a:cs typeface="Times New Roman" panose="02020603050405020304" pitchFamily="18" charset="0"/>
              </a:rPr>
              <a:t>LlamaIndex</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GB" dirty="0"/>
              <a:t>23/5/2026</a:t>
            </a:r>
            <a:endParaRPr lang="en-GB" dirty="0"/>
          </a:p>
        </p:txBody>
      </p:sp>
      <p:sp>
        <p:nvSpPr>
          <p:cNvPr id="5" name="Footer Placeholder 4"/>
          <p:cNvSpPr>
            <a:spLocks noGrp="1"/>
          </p:cNvSpPr>
          <p:nvPr>
            <p:ph type="ftr" sz="quarter" idx="11"/>
          </p:nvPr>
        </p:nvSpPr>
        <p:spPr/>
        <p:txBody>
          <a:bodyPr/>
          <a:lstStyle/>
          <a:p>
            <a:r>
              <a:rPr lang="en-US"/>
              <a:t>FYP internal Defence UG, Computer Science @Nile University of Nigeria </a:t>
            </a:r>
            <a:endParaRPr lang="en-GB"/>
          </a:p>
        </p:txBody>
      </p:sp>
      <p:sp>
        <p:nvSpPr>
          <p:cNvPr id="6" name="Slide Number Placeholder 5"/>
          <p:cNvSpPr>
            <a:spLocks noGrp="1"/>
          </p:cNvSpPr>
          <p:nvPr>
            <p:ph type="sldNum" sz="quarter" idx="12"/>
          </p:nvPr>
        </p:nvSpPr>
        <p:spPr/>
        <p:txBody>
          <a:bodyPr/>
          <a:lstStyle/>
          <a:p>
            <a:fld id="{CE00888B-E62E-4F5D-9BDF-6FC093FEB7AE}" type="slidenum">
              <a:rPr lang="en-GB" sz="2000" b="1" i="1" smtClean="0">
                <a:solidFill>
                  <a:schemeClr val="tx2">
                    <a:lumMod val="75000"/>
                    <a:lumOff val="25000"/>
                  </a:schemeClr>
                </a:solidFill>
                <a:latin typeface="Times New Roman" panose="02020603050405020304" pitchFamily="18" charset="0"/>
                <a:cs typeface="Times New Roman" panose="02020603050405020304" pitchFamily="18" charset="0"/>
              </a:rPr>
            </a:fld>
            <a:endParaRPr lang="en-GB" sz="2000" b="1" i="1"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pic>
        <p:nvPicPr>
          <p:cNvPr id="7" name="Picture 6" descr="image.png"/>
          <p:cNvPicPr>
            <a:picLocks noChangeAspect="1"/>
          </p:cNvPicPr>
          <p:nvPr/>
        </p:nvPicPr>
        <p:blipFill>
          <a:blip r:embed="rId2"/>
          <a:stretch>
            <a:fillRect/>
          </a:stretch>
        </p:blipFill>
        <p:spPr>
          <a:xfrm>
            <a:off x="7282543" y="1195995"/>
            <a:ext cx="3298371" cy="51603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
            <a:lum/>
          </a:blip>
          <a:srcRect/>
          <a:stretch>
            <a:fillRect t="-32000" b="-32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Generation &amp; User Interface</a:t>
            </a:r>
            <a:endParaRPr lang="en-GB"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5"/>
            <a:ext cx="6256663" cy="4351338"/>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System Description</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Retrieved passages passed as context to Gemini 2.5 Flash</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Generates natural, accurate answers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Web interface for natural language queries</a:t>
            </a: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GB" dirty="0"/>
              <a:t>23/5/2026</a:t>
            </a:r>
            <a:endParaRPr lang="en-GB" dirty="0"/>
          </a:p>
        </p:txBody>
      </p:sp>
      <p:sp>
        <p:nvSpPr>
          <p:cNvPr id="5" name="Footer Placeholder 4"/>
          <p:cNvSpPr>
            <a:spLocks noGrp="1"/>
          </p:cNvSpPr>
          <p:nvPr>
            <p:ph type="ftr" sz="quarter" idx="11"/>
          </p:nvPr>
        </p:nvSpPr>
        <p:spPr/>
        <p:txBody>
          <a:bodyPr/>
          <a:lstStyle/>
          <a:p>
            <a:r>
              <a:rPr lang="en-US"/>
              <a:t>FYP internal Defence UG, Computer Science @Nile University of Nigeria </a:t>
            </a:r>
            <a:endParaRPr lang="en-GB"/>
          </a:p>
        </p:txBody>
      </p:sp>
      <p:sp>
        <p:nvSpPr>
          <p:cNvPr id="6" name="Slide Number Placeholder 5"/>
          <p:cNvSpPr>
            <a:spLocks noGrp="1"/>
          </p:cNvSpPr>
          <p:nvPr>
            <p:ph type="sldNum" sz="quarter" idx="12"/>
          </p:nvPr>
        </p:nvSpPr>
        <p:spPr/>
        <p:txBody>
          <a:bodyPr/>
          <a:lstStyle/>
          <a:p>
            <a:fld id="{CE00888B-E62E-4F5D-9BDF-6FC093FEB7AE}" type="slidenum">
              <a:rPr lang="en-GB" sz="2000" b="1" i="1" smtClean="0">
                <a:solidFill>
                  <a:schemeClr val="tx2">
                    <a:lumMod val="75000"/>
                    <a:lumOff val="25000"/>
                  </a:schemeClr>
                </a:solidFill>
                <a:latin typeface="Times New Roman" panose="02020603050405020304" pitchFamily="18" charset="0"/>
                <a:cs typeface="Times New Roman" panose="02020603050405020304" pitchFamily="18" charset="0"/>
              </a:rPr>
            </a:fld>
            <a:endParaRPr lang="en-GB" sz="2000" b="1" i="1"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pic>
        <p:nvPicPr>
          <p:cNvPr id="7" name="Picture 6" descr="image.png"/>
          <p:cNvPicPr>
            <a:picLocks noChangeAspect="1"/>
          </p:cNvPicPr>
          <p:nvPr/>
        </p:nvPicPr>
        <p:blipFill>
          <a:blip r:embed="rId2"/>
          <a:stretch>
            <a:fillRect/>
          </a:stretch>
        </p:blipFill>
        <p:spPr>
          <a:xfrm>
            <a:off x="7222070" y="1277862"/>
            <a:ext cx="4466827" cy="489910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
            <a:lum/>
          </a:blip>
          <a:srcRect/>
          <a:stretch>
            <a:fillRect t="-32000" b="-32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Technology Stack</a:t>
            </a:r>
            <a:endParaRPr lang="en-GB" sz="40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GB" dirty="0"/>
              <a:t>23/5/2026</a:t>
            </a:r>
            <a:endParaRPr lang="en-GB" dirty="0"/>
          </a:p>
        </p:txBody>
      </p:sp>
      <p:sp>
        <p:nvSpPr>
          <p:cNvPr id="5" name="Footer Placeholder 4"/>
          <p:cNvSpPr>
            <a:spLocks noGrp="1"/>
          </p:cNvSpPr>
          <p:nvPr>
            <p:ph type="ftr" sz="quarter" idx="11"/>
          </p:nvPr>
        </p:nvSpPr>
        <p:spPr/>
        <p:txBody>
          <a:bodyPr/>
          <a:lstStyle/>
          <a:p>
            <a:r>
              <a:rPr lang="en-US"/>
              <a:t>FYP internal Defence UG, Computer Science @Nile University of Nigeria </a:t>
            </a:r>
            <a:endParaRPr lang="en-GB"/>
          </a:p>
        </p:txBody>
      </p:sp>
      <p:sp>
        <p:nvSpPr>
          <p:cNvPr id="6" name="Slide Number Placeholder 5"/>
          <p:cNvSpPr>
            <a:spLocks noGrp="1"/>
          </p:cNvSpPr>
          <p:nvPr>
            <p:ph type="sldNum" sz="quarter" idx="12"/>
          </p:nvPr>
        </p:nvSpPr>
        <p:spPr/>
        <p:txBody>
          <a:bodyPr/>
          <a:lstStyle/>
          <a:p>
            <a:fld id="{CE00888B-E62E-4F5D-9BDF-6FC093FEB7AE}" type="slidenum">
              <a:rPr lang="en-GB" sz="2000" b="1" i="1" smtClean="0">
                <a:solidFill>
                  <a:schemeClr val="tx2">
                    <a:lumMod val="75000"/>
                    <a:lumOff val="25000"/>
                  </a:schemeClr>
                </a:solidFill>
                <a:latin typeface="Times New Roman" panose="02020603050405020304" pitchFamily="18" charset="0"/>
                <a:cs typeface="Times New Roman" panose="02020603050405020304" pitchFamily="18" charset="0"/>
              </a:rPr>
            </a:fld>
            <a:endParaRPr lang="en-GB" sz="2000" b="1" i="1"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sp>
        <p:nvSpPr>
          <p:cNvPr id="10" name="Content Placeholder 9"/>
          <p:cNvSpPr>
            <a:spLocks noGrp="1"/>
          </p:cNvSpPr>
          <p:nvPr>
            <p:ph idx="1"/>
          </p:nvPr>
        </p:nvSpPr>
        <p:spPr/>
        <p:txBody>
          <a:bodyPr/>
          <a:lstStyle/>
          <a:p>
            <a:r>
              <a:rPr lang="en-US" sz="3200" b="1" dirty="0">
                <a:latin typeface="Times New Roman" panose="02020603050405020304" pitchFamily="18" charset="0"/>
                <a:cs typeface="Times New Roman" panose="02020603050405020304" pitchFamily="18" charset="0"/>
              </a:rPr>
              <a:t>Programming Language</a:t>
            </a:r>
            <a:r>
              <a:rPr lang="en-US" sz="3200" dirty="0">
                <a:latin typeface="Times New Roman" panose="02020603050405020304" pitchFamily="18" charset="0"/>
                <a:cs typeface="Times New Roman" panose="02020603050405020304" pitchFamily="18" charset="0"/>
              </a:rPr>
              <a:t>: Python 3.10</a:t>
            </a:r>
            <a:endParaRPr lang="en-US" sz="32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Core Libraries</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LlamaIndex</a:t>
            </a:r>
            <a:r>
              <a:rPr lang="en-US" sz="3200" dirty="0">
                <a:latin typeface="Times New Roman" panose="02020603050405020304" pitchFamily="18" charset="0"/>
                <a:cs typeface="Times New Roman" panose="02020603050405020304" pitchFamily="18" charset="0"/>
              </a:rPr>
              <a:t>, Google Gemini API Gemini 2.5 Flash, </a:t>
            </a:r>
            <a:r>
              <a:rPr lang="en-US" sz="3200" dirty="0" err="1">
                <a:latin typeface="Times New Roman" panose="02020603050405020304" pitchFamily="18" charset="0"/>
                <a:cs typeface="Times New Roman" panose="02020603050405020304" pitchFamily="18" charset="0"/>
              </a:rPr>
              <a:t>FastAPI</a:t>
            </a:r>
            <a:endParaRPr lang="en-US" sz="32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Frontend: Simple web interface (React (Vite) + Tailwind CSS)</a:t>
            </a:r>
            <a:endParaRPr lang="en-US" sz="3200" b="1"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
            <a:lum/>
          </a:blip>
          <a:srcRect/>
          <a:stretch>
            <a:fillRect t="-32000" b="-32000"/>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GB" dirty="0"/>
              <a:t>23/5/2026</a:t>
            </a:r>
            <a:endParaRPr lang="en-GB" dirty="0"/>
          </a:p>
        </p:txBody>
      </p:sp>
      <p:sp>
        <p:nvSpPr>
          <p:cNvPr id="5" name="Footer Placeholder 4"/>
          <p:cNvSpPr>
            <a:spLocks noGrp="1"/>
          </p:cNvSpPr>
          <p:nvPr>
            <p:ph type="ftr" sz="quarter" idx="11"/>
          </p:nvPr>
        </p:nvSpPr>
        <p:spPr/>
        <p:txBody>
          <a:bodyPr/>
          <a:lstStyle/>
          <a:p>
            <a:r>
              <a:rPr lang="en-US"/>
              <a:t>FYP internal Defence UG, Computer Science @Nile University of Nigeria </a:t>
            </a:r>
            <a:endParaRPr lang="en-GB"/>
          </a:p>
        </p:txBody>
      </p:sp>
      <p:sp>
        <p:nvSpPr>
          <p:cNvPr id="6" name="Slide Number Placeholder 5"/>
          <p:cNvSpPr>
            <a:spLocks noGrp="1"/>
          </p:cNvSpPr>
          <p:nvPr>
            <p:ph type="sldNum" sz="quarter" idx="12"/>
          </p:nvPr>
        </p:nvSpPr>
        <p:spPr/>
        <p:txBody>
          <a:bodyPr/>
          <a:lstStyle/>
          <a:p>
            <a:fld id="{CE00888B-E62E-4F5D-9BDF-6FC093FEB7AE}" type="slidenum">
              <a:rPr lang="en-GB" sz="2000" b="1" i="1" smtClean="0">
                <a:solidFill>
                  <a:schemeClr val="tx2">
                    <a:lumMod val="75000"/>
                    <a:lumOff val="25000"/>
                  </a:schemeClr>
                </a:solidFill>
                <a:latin typeface="Times New Roman" panose="02020603050405020304" pitchFamily="18" charset="0"/>
                <a:cs typeface="Times New Roman" panose="02020603050405020304" pitchFamily="18" charset="0"/>
              </a:rPr>
            </a:fld>
            <a:endParaRPr lang="en-GB" sz="2000" b="1" i="1"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528810" y="2182727"/>
            <a:ext cx="3509790" cy="1926565"/>
          </a:xfrm>
        </p:spPr>
        <p:txBody>
          <a:bodyPr>
            <a:normAutofit/>
          </a:bodyPr>
          <a:lstStyle/>
          <a:p>
            <a:r>
              <a:rPr lang="en-US" sz="4000" b="1" dirty="0">
                <a:latin typeface="Times New Roman" panose="02020603050405020304" pitchFamily="18" charset="0"/>
                <a:cs typeface="Times New Roman" panose="02020603050405020304" pitchFamily="18" charset="0"/>
              </a:rPr>
              <a:t>Demo</a:t>
            </a:r>
            <a:endParaRPr lang="en-GB" sz="4000" b="1"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3002319" y="924634"/>
            <a:ext cx="9111290" cy="516731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
            <a:lum/>
          </a:blip>
          <a:srcRect/>
          <a:stretch>
            <a:fillRect t="-32000" b="-32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Conclusion and Future Recommendations</a:t>
            </a:r>
            <a:endParaRPr lang="en-GB"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a:p>
            <a:pPr marL="514350" lvl="0" indent="-514350" eaLnBrk="0" fontAlgn="base" hangingPunct="0">
              <a:lnSpc>
                <a:spcPct val="100000"/>
              </a:lnSpc>
              <a:spcBef>
                <a:spcPct val="0"/>
              </a:spcBef>
              <a:spcAft>
                <a:spcPct val="0"/>
              </a:spcAft>
              <a:buFont typeface="+mj-lt"/>
              <a:buAutoNum type="arabicPeriod"/>
            </a:pPr>
            <a:r>
              <a:rPr lang="en-US" altLang="en-US" dirty="0">
                <a:latin typeface="Times New Roman" panose="02020603050405020304" pitchFamily="18" charset="0"/>
                <a:cs typeface="Times New Roman" panose="02020603050405020304" pitchFamily="18" charset="0"/>
              </a:rPr>
              <a:t>Successfully built a practical RAG-based QA system. </a:t>
            </a:r>
            <a:endParaRPr lang="en-US" altLang="en-US" dirty="0">
              <a:latin typeface="Times New Roman" panose="02020603050405020304" pitchFamily="18" charset="0"/>
              <a:cs typeface="Times New Roman" panose="02020603050405020304" pitchFamily="18" charset="0"/>
            </a:endParaRPr>
          </a:p>
          <a:p>
            <a:pPr marL="514350" lvl="0" indent="-514350" eaLnBrk="0" fontAlgn="base" hangingPunct="0">
              <a:lnSpc>
                <a:spcPct val="100000"/>
              </a:lnSpc>
              <a:spcBef>
                <a:spcPct val="0"/>
              </a:spcBef>
              <a:spcAft>
                <a:spcPct val="0"/>
              </a:spcAft>
              <a:buFont typeface="+mj-lt"/>
              <a:buAutoNum type="arabicPeriod"/>
            </a:pPr>
            <a:r>
              <a:rPr lang="en-US" altLang="en-US" dirty="0">
                <a:latin typeface="Times New Roman" panose="02020603050405020304" pitchFamily="18" charset="0"/>
                <a:cs typeface="Times New Roman" panose="02020603050405020304" pitchFamily="18" charset="0"/>
              </a:rPr>
              <a:t>Demonstrated the value of RAG for institutional policy documents.</a:t>
            </a: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Future Recommendation </a:t>
            </a:r>
            <a:endParaRPr lang="en-US" dirty="0">
              <a:latin typeface="Times New Roman" panose="02020603050405020304" pitchFamily="18" charset="0"/>
              <a:cs typeface="Times New Roman" panose="02020603050405020304" pitchFamily="18" charset="0"/>
            </a:endParaRPr>
          </a:p>
          <a:p>
            <a:pPr marL="514350" lvl="0" indent="-514350" eaLnBrk="0" fontAlgn="base" hangingPunct="0">
              <a:lnSpc>
                <a:spcPct val="100000"/>
              </a:lnSpc>
              <a:spcBef>
                <a:spcPct val="0"/>
              </a:spcBef>
              <a:spcAft>
                <a:spcPct val="0"/>
              </a:spcAft>
              <a:buFont typeface="+mj-lt"/>
              <a:buAutoNum type="arabicPeriod"/>
            </a:pPr>
            <a:r>
              <a:rPr lang="en-US" altLang="en-US" dirty="0">
                <a:latin typeface="Times New Roman" panose="02020603050405020304" pitchFamily="18" charset="0"/>
                <a:cs typeface="Times New Roman" panose="02020603050405020304" pitchFamily="18" charset="0"/>
              </a:rPr>
              <a:t>Mobile application development </a:t>
            </a:r>
            <a:endParaRPr lang="en-US" altLang="en-US" dirty="0">
              <a:latin typeface="Times New Roman" panose="02020603050405020304" pitchFamily="18" charset="0"/>
              <a:cs typeface="Times New Roman" panose="02020603050405020304" pitchFamily="18" charset="0"/>
            </a:endParaRPr>
          </a:p>
          <a:p>
            <a:pPr marL="514350" lvl="0" indent="-514350" eaLnBrk="0" fontAlgn="base" hangingPunct="0">
              <a:lnSpc>
                <a:spcPct val="100000"/>
              </a:lnSpc>
              <a:spcBef>
                <a:spcPct val="0"/>
              </a:spcBef>
              <a:spcAft>
                <a:spcPct val="0"/>
              </a:spcAft>
              <a:buFont typeface="+mj-lt"/>
              <a:buAutoNum type="arabicPeriod"/>
            </a:pPr>
            <a:r>
              <a:rPr lang="en-US" altLang="en-US" dirty="0">
                <a:latin typeface="Times New Roman" panose="02020603050405020304" pitchFamily="18" charset="0"/>
                <a:cs typeface="Times New Roman" panose="02020603050405020304" pitchFamily="18" charset="0"/>
              </a:rPr>
              <a:t>Voice interface support </a:t>
            </a:r>
            <a:endParaRPr lang="en-US" altLang="en-US" dirty="0">
              <a:latin typeface="Times New Roman" panose="02020603050405020304" pitchFamily="18" charset="0"/>
              <a:cs typeface="Times New Roman" panose="02020603050405020304" pitchFamily="18" charset="0"/>
            </a:endParaRPr>
          </a:p>
          <a:p>
            <a:pPr marL="514350" lvl="0" indent="-514350" eaLnBrk="0" fontAlgn="base" hangingPunct="0">
              <a:lnSpc>
                <a:spcPct val="100000"/>
              </a:lnSpc>
              <a:spcBef>
                <a:spcPct val="0"/>
              </a:spcBef>
              <a:spcAft>
                <a:spcPct val="0"/>
              </a:spcAft>
              <a:buFont typeface="+mj-lt"/>
              <a:buAutoNum type="arabicPeriod"/>
            </a:pPr>
            <a:r>
              <a:rPr lang="en-US" altLang="en-US" dirty="0">
                <a:latin typeface="Times New Roman" panose="02020603050405020304" pitchFamily="18" charset="0"/>
                <a:cs typeface="Times New Roman" panose="02020603050405020304" pitchFamily="18" charset="0"/>
              </a:rPr>
              <a:t>Automatic policy update detection </a:t>
            </a:r>
            <a:endParaRPr lang="en-US" altLang="en-US" dirty="0">
              <a:latin typeface="Times New Roman" panose="02020603050405020304" pitchFamily="18" charset="0"/>
              <a:cs typeface="Times New Roman" panose="02020603050405020304" pitchFamily="18" charset="0"/>
            </a:endParaRPr>
          </a:p>
          <a:p>
            <a:pPr marL="514350" lvl="0" indent="-514350" eaLnBrk="0" fontAlgn="base" hangingPunct="0">
              <a:lnSpc>
                <a:spcPct val="100000"/>
              </a:lnSpc>
              <a:spcBef>
                <a:spcPct val="0"/>
              </a:spcBef>
              <a:spcAft>
                <a:spcPct val="0"/>
              </a:spcAft>
              <a:buFont typeface="+mj-lt"/>
              <a:buAutoNum type="arabicPeriod"/>
            </a:pPr>
            <a:r>
              <a:rPr lang="en-US" altLang="en-US" dirty="0">
                <a:latin typeface="Times New Roman" panose="02020603050405020304" pitchFamily="18" charset="0"/>
                <a:cs typeface="Times New Roman" panose="02020603050405020304" pitchFamily="18" charset="0"/>
              </a:rPr>
              <a:t>Deployment as a university-wide service </a:t>
            </a:r>
            <a:endParaRPr lang="en-US" altLang="en-US"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GB" dirty="0"/>
              <a:t>23/5/2026</a:t>
            </a:r>
            <a:endParaRPr lang="en-GB" dirty="0"/>
          </a:p>
        </p:txBody>
      </p:sp>
      <p:sp>
        <p:nvSpPr>
          <p:cNvPr id="5" name="Footer Placeholder 4"/>
          <p:cNvSpPr>
            <a:spLocks noGrp="1"/>
          </p:cNvSpPr>
          <p:nvPr>
            <p:ph type="ftr" sz="quarter" idx="11"/>
          </p:nvPr>
        </p:nvSpPr>
        <p:spPr/>
        <p:txBody>
          <a:bodyPr/>
          <a:lstStyle/>
          <a:p>
            <a:r>
              <a:rPr lang="en-US"/>
              <a:t>FYP internal Defence UG, Computer Science @Nile University of Nigeria </a:t>
            </a:r>
            <a:endParaRPr lang="en-GB"/>
          </a:p>
        </p:txBody>
      </p:sp>
      <p:sp>
        <p:nvSpPr>
          <p:cNvPr id="6" name="Slide Number Placeholder 5"/>
          <p:cNvSpPr>
            <a:spLocks noGrp="1"/>
          </p:cNvSpPr>
          <p:nvPr>
            <p:ph type="sldNum" sz="quarter" idx="12"/>
          </p:nvPr>
        </p:nvSpPr>
        <p:spPr/>
        <p:txBody>
          <a:bodyPr/>
          <a:lstStyle/>
          <a:p>
            <a:fld id="{CE00888B-E62E-4F5D-9BDF-6FC093FEB7AE}" type="slidenum">
              <a:rPr lang="en-GB" sz="2000" b="1" i="1" smtClean="0">
                <a:solidFill>
                  <a:schemeClr val="tx2">
                    <a:lumMod val="75000"/>
                    <a:lumOff val="25000"/>
                  </a:schemeClr>
                </a:solidFill>
                <a:latin typeface="Times New Roman" panose="02020603050405020304" pitchFamily="18" charset="0"/>
                <a:cs typeface="Times New Roman" panose="02020603050405020304" pitchFamily="18" charset="0"/>
              </a:rPr>
            </a:fld>
            <a:endParaRPr lang="en-GB" sz="2000" b="1" i="1"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4262</Words>
  <Application>WPS Presentation</Application>
  <PresentationFormat>Widescreen</PresentationFormat>
  <Paragraphs>176</Paragraphs>
  <Slides>13</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13</vt:i4>
      </vt:variant>
    </vt:vector>
  </HeadingPairs>
  <TitlesOfParts>
    <vt:vector size="26" baseType="lpstr">
      <vt:lpstr>Arial</vt:lpstr>
      <vt:lpstr>SimSun</vt:lpstr>
      <vt:lpstr>Wingdings</vt:lpstr>
      <vt:lpstr>Times New Roman</vt:lpstr>
      <vt:lpstr>Calibri</vt:lpstr>
      <vt:lpstr>Aptos</vt:lpstr>
      <vt:lpstr>Helvetica Neue</vt:lpstr>
      <vt:lpstr>Microsoft YaHei</vt:lpstr>
      <vt:lpstr>汉仪旗黑</vt:lpstr>
      <vt:lpstr>Arial Unicode MS</vt:lpstr>
      <vt:lpstr>Aptos Display</vt:lpstr>
      <vt:lpstr>宋体-简</vt:lpstr>
      <vt:lpstr>Office Theme</vt:lpstr>
      <vt:lpstr>Intelligent Question Answering System for University Policy Documents </vt:lpstr>
      <vt:lpstr>Content</vt:lpstr>
      <vt:lpstr>Background</vt:lpstr>
      <vt:lpstr>Problem Statement</vt:lpstr>
      <vt:lpstr>Aim and Objectives</vt:lpstr>
      <vt:lpstr>Gaps in Existing Works and Literature</vt:lpstr>
      <vt:lpstr>Methodology</vt:lpstr>
      <vt:lpstr>System Design: System Architecture</vt:lpstr>
      <vt:lpstr>Document Processing &amp; Retrieval</vt:lpstr>
      <vt:lpstr>Generation &amp; User Interface</vt:lpstr>
      <vt:lpstr>Technology Stack</vt:lpstr>
      <vt:lpstr>Demo</vt:lpstr>
      <vt:lpstr>Conclusion and Future Recommendations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Salisu Ibrahim Yusuf</dc:creator>
  <cp:lastModifiedBy>WPS_1772192687</cp:lastModifiedBy>
  <cp:revision>13</cp:revision>
  <dcterms:created xsi:type="dcterms:W3CDTF">2026-05-22T13:23:53Z</dcterms:created>
  <dcterms:modified xsi:type="dcterms:W3CDTF">2026-05-22T13:23:53Z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F5925F19C2E4502CD0BD0F6A54746EE0_42</vt:lpwstr>
  </property>
  <property fmtid="{D5CDD505-2E9C-101B-9397-08002B2CF9AE}" pid="3" name="KSOProductBuildVer">
    <vt:lpwstr>1033-12.1.23155.23155</vt:lpwstr>
  </property>
</Properties>
</file>